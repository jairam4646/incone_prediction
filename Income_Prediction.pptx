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77F84-5C08-4C62-8691-DFC90C6B33E6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8703F-504C-4F7B-AE08-9E030E7E5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48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8703F-504C-4F7B-AE08-9E030E7E599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717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8F05-BBB7-69D5-68FA-88535C928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AD4AF-A923-E5AA-CBD2-CF5FCF103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166E9-EDD7-6FA5-515E-4DDF3DD76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A64F-433D-419D-90EC-692CAF6A578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02CE5-58F0-C0A7-4AC0-2F32E6F5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C69DE-B0CE-14A1-87B4-517B337FD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6EDD7-4C26-4436-A99B-BD1F9B0BE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440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A0E8E-28FC-0197-722C-6FA0CFB7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ED60-61B9-A064-B86C-1BD18E75D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3135B-E05A-C83D-6CCB-2A4F133ED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A64F-433D-419D-90EC-692CAF6A578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C8369-D885-0BB7-1A5B-A410BCEA8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C75D2-362D-175B-A230-AB854B737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6EDD7-4C26-4436-A99B-BD1F9B0BE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891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31C9-FD94-1199-6D6D-36495261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C845C-6753-F378-6810-E5AAB2C4C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5DF5C-6D53-C53B-342D-2F97ACB1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A64F-433D-419D-90EC-692CAF6A578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A2418-B998-07D2-738A-CCA17586B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FE30F-533A-39C5-9330-7B094B573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6EDD7-4C26-4436-A99B-BD1F9B0BE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21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BFE0B-4D76-AEA1-2E40-71F26D98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CF943-E2C4-BA83-77A1-F06875328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42BB7-5C33-56A8-2D8D-078E1F278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A3DDE-0EE6-C5D8-A757-F6D2C1054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A64F-433D-419D-90EC-692CAF6A578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588CB-9294-906C-74AC-11B5D560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F6FC5-9AD2-32A5-F8BC-95ED9D0AA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6EDD7-4C26-4436-A99B-BD1F9B0BE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1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18E5-C5F2-D6C2-EBD7-AD584CCDE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4CA64-7EE6-A268-27A2-BAEDB6E5F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EA9E0-7B32-C500-D543-D6EB612CE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75972-56A5-E1E8-34A6-0E8B0811D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F59376-E5DB-9A39-2159-A1900A499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01E64E-FD29-D9AF-AD18-31515A5E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A64F-433D-419D-90EC-692CAF6A578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7225D-C9E3-297D-E0F6-DB8DA7697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59FA99-1A9A-DAF7-F783-A175F76A5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6EDD7-4C26-4436-A99B-BD1F9B0BE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275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5F46-924E-4D4C-B13F-7B3192FC9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B425E1-2A17-E8BA-5E15-B2AF8FB1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A64F-433D-419D-90EC-692CAF6A578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68E6D-54BD-3425-2111-96535874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68D50-7E7B-4A58-004F-AE0E5BDB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6EDD7-4C26-4436-A99B-BD1F9B0BE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05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D6CF3-5210-6051-9198-8C62A019E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A64F-433D-419D-90EC-692CAF6A578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E5747-95E3-0530-C30C-DED9FB4D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27398-1E01-9D7F-17E7-71DD3FC3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6EDD7-4C26-4436-A99B-BD1F9B0BE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4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DF7E9-6B24-E25F-C1D0-2ECC4814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94C96-557C-CDA5-8E9A-92031E9D9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640E2-6FDD-8C51-6887-771851BB9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E2714-C141-A2C0-465F-3B173183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A64F-433D-419D-90EC-692CAF6A578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8F50F-8E88-71DA-55E9-DD54110E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8475A-4CB7-1AE4-297F-A9458741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6EDD7-4C26-4436-A99B-BD1F9B0BE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969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981F-CF5B-4C66-53BB-C375FA1D4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69CD0-FA86-7632-0090-8F01799BA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00D6C-4395-4BEE-8465-C66A767D6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9A461-8819-B08A-4143-6894558AC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A64F-433D-419D-90EC-692CAF6A578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1D038-9FD7-FD52-026D-E57089ABF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2BC70-342D-3BBF-2CF7-3CB046EF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6EDD7-4C26-4436-A99B-BD1F9B0BE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591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7E75-9DBE-B2D5-27B9-96368345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626F91-F364-15AD-A076-A60D36938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6544E-47B2-0CFC-555B-1BAC127C4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A64F-433D-419D-90EC-692CAF6A578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DD7CE-66CE-56C8-BC00-70DF41CD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4B442-223D-439D-967F-DF096AB5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6EDD7-4C26-4436-A99B-BD1F9B0BE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58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A32981-FC49-C3C6-8C13-D6004A179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1C1AB-E09C-B565-4D8D-F76A7DB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EA4D2-E754-4D16-C2D2-EA409BF91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A64F-433D-419D-90EC-692CAF6A578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1A9D3-4D4F-B521-B067-B922BBC51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7DDE3-5EC3-D090-4475-8FFFFFA6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6EDD7-4C26-4436-A99B-BD1F9B0BE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37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2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844759-B774-5F58-4F4A-A2BEDE75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6F03C-6223-35ED-CBA1-C078F1324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DD777-FB22-E2E7-CDAB-42E5E66EA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4A64F-433D-419D-90EC-692CAF6A5788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C7ADA-8281-3165-12E8-6EAA2EFC4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DB92C-F635-FCC0-71E9-C7EC5AAF6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6EDD7-4C26-4436-A99B-BD1F9B0BEC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67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54B400-1647-7EDD-5F46-98711B062C46}"/>
              </a:ext>
            </a:extLst>
          </p:cNvPr>
          <p:cNvSpPr txBox="1"/>
          <p:nvPr/>
        </p:nvSpPr>
        <p:spPr>
          <a:xfrm>
            <a:off x="980218" y="1735128"/>
            <a:ext cx="102315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cap="all" dirty="0">
                <a:latin typeface="Segoe UI Black" panose="020B0A02040204020203" pitchFamily="34" charset="0"/>
                <a:ea typeface="Segoe UI Black" panose="020B0A02040204020203" pitchFamily="34" charset="0"/>
              </a:rPr>
              <a:t>Census Income Prediction Using </a:t>
            </a:r>
            <a:r>
              <a:rPr lang="en-IN" sz="3200" cap="all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CatBoost</a:t>
            </a:r>
            <a:endParaRPr lang="en-IN" sz="3200" cap="all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99C0D-1983-FF91-72A6-FF03915E285E}"/>
              </a:ext>
            </a:extLst>
          </p:cNvPr>
          <p:cNvSpPr txBox="1"/>
          <p:nvPr/>
        </p:nvSpPr>
        <p:spPr>
          <a:xfrm>
            <a:off x="2167509" y="2211609"/>
            <a:ext cx="8477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Predicting Annual Income (&gt;50K or ≤50K) Using the UCI Adult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2A392E-9427-9A4B-9AAC-4C85D43B7C08}"/>
              </a:ext>
            </a:extLst>
          </p:cNvPr>
          <p:cNvSpPr txBox="1"/>
          <p:nvPr/>
        </p:nvSpPr>
        <p:spPr>
          <a:xfrm>
            <a:off x="7740777" y="3211312"/>
            <a:ext cx="2283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a typeface="ADLaM Display" panose="02010000000000000000" pitchFamily="2" charset="0"/>
                <a:cs typeface="ADLaM Display" panose="02010000000000000000" pitchFamily="2" charset="0"/>
              </a:rPr>
              <a:t>Presented By :</a:t>
            </a:r>
          </a:p>
          <a:p>
            <a:pPr>
              <a:buNone/>
            </a:pPr>
            <a:endParaRPr lang="en-IN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buNone/>
            </a:pPr>
            <a:r>
              <a:rPr lang="en-IN" dirty="0"/>
              <a:t>N. Jai Rama Srinivas</a:t>
            </a:r>
          </a:p>
          <a:p>
            <a:pPr>
              <a:buNone/>
            </a:pPr>
            <a:r>
              <a:rPr lang="en-IN" dirty="0"/>
              <a:t>PPBDA-1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9234E-1CE6-08C5-F1F1-BC83A99662EC}"/>
              </a:ext>
            </a:extLst>
          </p:cNvPr>
          <p:cNvSpPr txBox="1"/>
          <p:nvPr/>
        </p:nvSpPr>
        <p:spPr>
          <a:xfrm>
            <a:off x="2167509" y="3211312"/>
            <a:ext cx="40210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Project Information :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Dataset: </a:t>
            </a:r>
            <a:r>
              <a:rPr lang="en-IN" dirty="0"/>
              <a:t>UCI Adult (Census Income)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Model: </a:t>
            </a:r>
            <a:r>
              <a:rPr lang="en-IN" dirty="0" err="1"/>
              <a:t>CatBoostClassifier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Organization: </a:t>
            </a:r>
            <a:r>
              <a:rPr lang="en-IN" dirty="0"/>
              <a:t>Hero </a:t>
            </a:r>
            <a:r>
              <a:rPr lang="en-IN" dirty="0" err="1"/>
              <a:t>Vired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535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3CDA74-493F-1A72-4140-C705D4435A78}"/>
              </a:ext>
            </a:extLst>
          </p:cNvPr>
          <p:cNvSpPr txBox="1"/>
          <p:nvPr/>
        </p:nvSpPr>
        <p:spPr>
          <a:xfrm>
            <a:off x="1712214" y="1772149"/>
            <a:ext cx="64625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Problem Statement &amp;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77DFB5-CBB0-77B2-FD2B-8B292CCBBE66}"/>
              </a:ext>
            </a:extLst>
          </p:cNvPr>
          <p:cNvSpPr txBox="1"/>
          <p:nvPr/>
        </p:nvSpPr>
        <p:spPr>
          <a:xfrm>
            <a:off x="1712214" y="2544591"/>
            <a:ext cx="8922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dirty="0"/>
              <a:t>The goal of this project is to predict whether an individual's annual income exceeds </a:t>
            </a:r>
            <a:r>
              <a:rPr lang="en-IN" b="1" dirty="0"/>
              <a:t>$50,000</a:t>
            </a:r>
            <a:r>
              <a:rPr lang="en-IN" dirty="0"/>
              <a:t> using demographic, educational, occupational, and financial attributes from the UCI Adult (Census Income) dataset.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2C555-10A9-3DE2-15AE-186B8DF8B7D2}"/>
              </a:ext>
            </a:extLst>
          </p:cNvPr>
          <p:cNvSpPr txBox="1"/>
          <p:nvPr/>
        </p:nvSpPr>
        <p:spPr>
          <a:xfrm>
            <a:off x="1712214" y="3717143"/>
            <a:ext cx="37376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Classification Classes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Income &gt; $50K</a:t>
            </a:r>
            <a:r>
              <a:rPr lang="en-IN" dirty="0"/>
              <a:t> → Positive Class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 Income ≤ $50K</a:t>
            </a:r>
            <a:r>
              <a:rPr lang="en-IN" dirty="0"/>
              <a:t> → Negative Class</a:t>
            </a:r>
          </a:p>
        </p:txBody>
      </p:sp>
    </p:spTree>
    <p:extLst>
      <p:ext uri="{BB962C8B-B14F-4D97-AF65-F5344CB8AC3E}">
        <p14:creationId xmlns:p14="http://schemas.microsoft.com/office/powerpoint/2010/main" val="3798194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85F3-A5BA-E9EF-4482-E2C83796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F3B297-81FF-BCA6-EA9E-3E083DAA104E}"/>
              </a:ext>
            </a:extLst>
          </p:cNvPr>
          <p:cNvSpPr txBox="1"/>
          <p:nvPr/>
        </p:nvSpPr>
        <p:spPr>
          <a:xfrm>
            <a:off x="1309878" y="1205222"/>
            <a:ext cx="381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Dataset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F933-FA5E-2599-B918-6236837A0689}"/>
              </a:ext>
            </a:extLst>
          </p:cNvPr>
          <p:cNvSpPr txBox="1"/>
          <p:nvPr/>
        </p:nvSpPr>
        <p:spPr>
          <a:xfrm>
            <a:off x="1309878" y="1856232"/>
            <a:ext cx="3664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UCI Adult (Census Income) Dataset 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85A18BE-318B-76B4-6D18-753FE767D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1468"/>
              </p:ext>
            </p:extLst>
          </p:nvPr>
        </p:nvGraphicFramePr>
        <p:xfrm>
          <a:off x="1309878" y="2313206"/>
          <a:ext cx="4081272" cy="2223984"/>
        </p:xfrm>
        <a:graphic>
          <a:graphicData uri="http://schemas.openxmlformats.org/drawingml/2006/table">
            <a:tbl>
              <a:tblPr/>
              <a:tblGrid>
                <a:gridCol w="2040636">
                  <a:extLst>
                    <a:ext uri="{9D8B030D-6E8A-4147-A177-3AD203B41FA5}">
                      <a16:colId xmlns:a16="http://schemas.microsoft.com/office/drawing/2014/main" val="3302931130"/>
                    </a:ext>
                  </a:extLst>
                </a:gridCol>
                <a:gridCol w="2040636">
                  <a:extLst>
                    <a:ext uri="{9D8B030D-6E8A-4147-A177-3AD203B41FA5}">
                      <a16:colId xmlns:a16="http://schemas.microsoft.com/office/drawing/2014/main" val="1966632614"/>
                    </a:ext>
                  </a:extLst>
                </a:gridCol>
              </a:tblGrid>
              <a:tr h="370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Dataset Statistics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Values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469195"/>
                  </a:ext>
                </a:extLst>
              </a:tr>
              <a:tr h="370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Training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32,561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321331"/>
                  </a:ext>
                </a:extLst>
              </a:tr>
              <a:tr h="370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16,281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662406"/>
                  </a:ext>
                </a:extLst>
              </a:tr>
              <a:tr h="370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48,842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604395"/>
                  </a:ext>
                </a:extLst>
              </a:tr>
              <a:tr h="370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641997"/>
                  </a:ext>
                </a:extLst>
              </a:tr>
              <a:tr h="370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Target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12704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C590EA-DDC6-7DCC-7004-4FE6D8161228}"/>
              </a:ext>
            </a:extLst>
          </p:cNvPr>
          <p:cNvSpPr txBox="1"/>
          <p:nvPr/>
        </p:nvSpPr>
        <p:spPr>
          <a:xfrm>
            <a:off x="6064758" y="1836158"/>
            <a:ext cx="2475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Feature Types 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8DF881-B7DA-E24C-82B6-C43AFBEE9605}"/>
              </a:ext>
            </a:extLst>
          </p:cNvPr>
          <p:cNvSpPr txBox="1"/>
          <p:nvPr/>
        </p:nvSpPr>
        <p:spPr>
          <a:xfrm>
            <a:off x="6064758" y="2205490"/>
            <a:ext cx="24757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Numerical Features (6)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Fnlwgt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Education_num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Capital_gain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Capital_loss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Hours_per_week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09EEBA-5862-9B95-7453-D704EB1F1CDE}"/>
              </a:ext>
            </a:extLst>
          </p:cNvPr>
          <p:cNvSpPr txBox="1"/>
          <p:nvPr/>
        </p:nvSpPr>
        <p:spPr>
          <a:xfrm>
            <a:off x="8540496" y="2205490"/>
            <a:ext cx="28506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Categorical Features (8)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Workclass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Education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Marital_status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Occupation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Relationship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Race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Sex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Native_country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2D9115-35DA-68B5-34DA-5C5190EF718D}"/>
              </a:ext>
            </a:extLst>
          </p:cNvPr>
          <p:cNvSpPr txBox="1"/>
          <p:nvPr/>
        </p:nvSpPr>
        <p:spPr>
          <a:xfrm>
            <a:off x="1331214" y="4790813"/>
            <a:ext cx="37894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Target Variable :</a:t>
            </a:r>
          </a:p>
          <a:p>
            <a:pPr>
              <a:buNone/>
            </a:pPr>
            <a:r>
              <a:rPr lang="en-IN" b="1" dirty="0"/>
              <a:t>Income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Income &gt; $50K → 1 (High Income)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Income ≤ $50K → 0 (Low Income)</a:t>
            </a:r>
          </a:p>
        </p:txBody>
      </p:sp>
    </p:spTree>
    <p:extLst>
      <p:ext uri="{BB962C8B-B14F-4D97-AF65-F5344CB8AC3E}">
        <p14:creationId xmlns:p14="http://schemas.microsoft.com/office/powerpoint/2010/main" val="1873743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74BD-F3C3-705A-D259-956D6E0DF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5ACAD4-7FBA-0783-71A8-F1F44379D752}"/>
              </a:ext>
            </a:extLst>
          </p:cNvPr>
          <p:cNvSpPr txBox="1"/>
          <p:nvPr/>
        </p:nvSpPr>
        <p:spPr>
          <a:xfrm>
            <a:off x="1712214" y="1104638"/>
            <a:ext cx="83096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Validation &amp; Exploratory Data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893B38-8E85-1A8C-265F-0EC937A5671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05733" y="1822906"/>
            <a:ext cx="3965915" cy="41605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127813-B6B9-1ADC-B52B-89E816C92C6A}"/>
              </a:ext>
            </a:extLst>
          </p:cNvPr>
          <p:cNvSpPr txBox="1"/>
          <p:nvPr/>
        </p:nvSpPr>
        <p:spPr>
          <a:xfrm>
            <a:off x="1712214" y="1779508"/>
            <a:ext cx="2027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Data Validation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D3022B-AFD2-530D-9084-FBD93538A686}"/>
              </a:ext>
            </a:extLst>
          </p:cNvPr>
          <p:cNvSpPr txBox="1"/>
          <p:nvPr/>
        </p:nvSpPr>
        <p:spPr>
          <a:xfrm>
            <a:off x="1712214" y="2148840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 Quality Checks Performed :</a:t>
            </a:r>
          </a:p>
          <a:p>
            <a:pPr>
              <a:buNone/>
            </a:pPr>
            <a:r>
              <a:rPr lang="en-IN" dirty="0"/>
              <a:t>✅ Assigned appropriate column names</a:t>
            </a:r>
          </a:p>
          <a:p>
            <a:pPr>
              <a:buNone/>
            </a:pPr>
            <a:r>
              <a:rPr lang="en-IN" dirty="0"/>
              <a:t>✅ Identified missing values</a:t>
            </a:r>
          </a:p>
          <a:p>
            <a:pPr>
              <a:buNone/>
            </a:pPr>
            <a:r>
              <a:rPr lang="en-IN" dirty="0"/>
              <a:t>✅ Checked duplicate records</a:t>
            </a:r>
          </a:p>
          <a:p>
            <a:pPr>
              <a:buNone/>
            </a:pPr>
            <a:r>
              <a:rPr lang="en-IN" dirty="0"/>
              <a:t>✅ Verified data types and feature distributions</a:t>
            </a:r>
          </a:p>
          <a:p>
            <a:pPr>
              <a:buNone/>
            </a:pPr>
            <a:r>
              <a:rPr lang="en-IN" dirty="0"/>
              <a:t>✅ Assessed categorical feature cardinality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8B525C-0C0D-1A80-2CD6-2144DF0087CC}"/>
              </a:ext>
            </a:extLst>
          </p:cNvPr>
          <p:cNvSpPr txBox="1"/>
          <p:nvPr/>
        </p:nvSpPr>
        <p:spPr>
          <a:xfrm>
            <a:off x="1712214" y="390316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EDA Findings :</a:t>
            </a:r>
          </a:p>
          <a:p>
            <a:pPr>
              <a:buNone/>
            </a:pPr>
            <a:r>
              <a:rPr lang="en-IN" b="1" dirty="0"/>
              <a:t>Income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Income ≤ $50K : </a:t>
            </a:r>
            <a:r>
              <a:rPr lang="en-IN" b="1" dirty="0"/>
              <a:t>75.9%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Income &gt; $50K : </a:t>
            </a:r>
            <a:r>
              <a:rPr lang="en-IN" b="1" dirty="0"/>
              <a:t>24.1%</a:t>
            </a:r>
            <a:r>
              <a:rPr lang="en-IN" dirty="0"/>
              <a:t> </a:t>
            </a:r>
          </a:p>
          <a:p>
            <a:r>
              <a:rPr lang="en-IN" dirty="0"/>
              <a:t>Dataset is moderately imbalanced</a:t>
            </a:r>
          </a:p>
        </p:txBody>
      </p:sp>
    </p:spTree>
    <p:extLst>
      <p:ext uri="{BB962C8B-B14F-4D97-AF65-F5344CB8AC3E}">
        <p14:creationId xmlns:p14="http://schemas.microsoft.com/office/powerpoint/2010/main" val="2267145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98A74-2C3D-9C50-0963-22DDEB541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A99A3C-472F-603C-E70E-0D85C1AA647B}"/>
              </a:ext>
            </a:extLst>
          </p:cNvPr>
          <p:cNvSpPr txBox="1"/>
          <p:nvPr/>
        </p:nvSpPr>
        <p:spPr>
          <a:xfrm>
            <a:off x="1961388" y="1510521"/>
            <a:ext cx="4908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Model Development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2A84A-8031-C302-5E59-64A05E9CF468}"/>
              </a:ext>
            </a:extLst>
          </p:cNvPr>
          <p:cNvSpPr txBox="1"/>
          <p:nvPr/>
        </p:nvSpPr>
        <p:spPr>
          <a:xfrm>
            <a:off x="1961388" y="2469761"/>
            <a:ext cx="6094476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Why </a:t>
            </a:r>
            <a:r>
              <a:rPr lang="en-IN" sz="2000" b="1" dirty="0" err="1"/>
              <a:t>CatBoost</a:t>
            </a:r>
            <a:r>
              <a:rPr lang="en-IN" sz="2000" b="1" dirty="0"/>
              <a:t>?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 err="1"/>
              <a:t>CatBoost</a:t>
            </a:r>
            <a:r>
              <a:rPr lang="en-IN" dirty="0"/>
              <a:t> was selected because:</a:t>
            </a:r>
          </a:p>
          <a:p>
            <a:pPr>
              <a:buNone/>
            </a:pPr>
            <a:r>
              <a:rPr lang="en-IN" dirty="0"/>
              <a:t>✅ Handles categorical features natively</a:t>
            </a:r>
          </a:p>
          <a:p>
            <a:pPr>
              <a:buNone/>
            </a:pPr>
            <a:r>
              <a:rPr lang="en-IN" dirty="0"/>
              <a:t>✅ No one-hot encoding required</a:t>
            </a:r>
          </a:p>
          <a:p>
            <a:pPr>
              <a:buNone/>
            </a:pPr>
            <a:r>
              <a:rPr lang="en-IN" dirty="0"/>
              <a:t>✅ Reduces preprocessing complexity</a:t>
            </a:r>
          </a:p>
          <a:p>
            <a:pPr>
              <a:buNone/>
            </a:pPr>
            <a:r>
              <a:rPr lang="en-IN" dirty="0"/>
              <a:t>✅ Strong performance on tabular datasets</a:t>
            </a:r>
          </a:p>
          <a:p>
            <a:pPr>
              <a:buNone/>
            </a:pPr>
            <a:r>
              <a:rPr lang="en-IN" dirty="0"/>
              <a:t>✅ Built-in handling for categorical variables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49A815-6F53-9396-8C5B-EACA9AD47A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12" t="11894" r="32782"/>
          <a:stretch>
            <a:fillRect/>
          </a:stretch>
        </p:blipFill>
        <p:spPr>
          <a:xfrm>
            <a:off x="7049523" y="1802909"/>
            <a:ext cx="3016497" cy="418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53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6B6E4-2787-62E2-D62C-0A7E230C4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C95B98D-2C42-7116-B0B0-DD3285B2F61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51576" y="1441634"/>
            <a:ext cx="5887324" cy="4251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6E4D1-3C49-181F-6FA8-DEA5DDCFC32C}"/>
              </a:ext>
            </a:extLst>
          </p:cNvPr>
          <p:cNvSpPr txBox="1"/>
          <p:nvPr/>
        </p:nvSpPr>
        <p:spPr>
          <a:xfrm>
            <a:off x="816102" y="1935171"/>
            <a:ext cx="49354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Feature Importance Analysis :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Top features influencing income prediction:</a:t>
            </a:r>
          </a:p>
          <a:p>
            <a:pPr>
              <a:buFont typeface="+mj-lt"/>
              <a:buAutoNum type="arabicPeriod"/>
            </a:pPr>
            <a:r>
              <a:rPr lang="en-IN" dirty="0"/>
              <a:t>Capital Gain </a:t>
            </a:r>
          </a:p>
          <a:p>
            <a:pPr>
              <a:buFont typeface="+mj-lt"/>
              <a:buAutoNum type="arabicPeriod"/>
            </a:pPr>
            <a:r>
              <a:rPr lang="en-IN" dirty="0"/>
              <a:t>Relationship </a:t>
            </a:r>
          </a:p>
          <a:p>
            <a:pPr>
              <a:buFont typeface="+mj-lt"/>
              <a:buAutoNum type="arabicPeriod"/>
            </a:pPr>
            <a:r>
              <a:rPr lang="en-IN" dirty="0"/>
              <a:t>Age </a:t>
            </a:r>
          </a:p>
          <a:p>
            <a:pPr>
              <a:buFont typeface="+mj-lt"/>
              <a:buAutoNum type="arabicPeriod"/>
            </a:pPr>
            <a:r>
              <a:rPr lang="en-IN" dirty="0"/>
              <a:t>Hours per Week </a:t>
            </a:r>
          </a:p>
          <a:p>
            <a:pPr>
              <a:buFont typeface="+mj-lt"/>
              <a:buAutoNum type="arabicPeriod"/>
            </a:pPr>
            <a:r>
              <a:rPr lang="en-IN" dirty="0"/>
              <a:t>Occupation </a:t>
            </a:r>
          </a:p>
          <a:p>
            <a:endParaRPr lang="en-IN" dirty="0"/>
          </a:p>
          <a:p>
            <a:pPr algn="just">
              <a:buNone/>
            </a:pPr>
            <a:r>
              <a:rPr lang="en-IN" dirty="0"/>
              <a:t>These variables contributed most to distinguishing</a:t>
            </a:r>
          </a:p>
          <a:p>
            <a:pPr algn="just">
              <a:buNone/>
            </a:pPr>
            <a:r>
              <a:rPr lang="en-IN" dirty="0"/>
              <a:t> between high-income and low-income individuals.</a:t>
            </a:r>
          </a:p>
        </p:txBody>
      </p:sp>
    </p:spTree>
    <p:extLst>
      <p:ext uri="{BB962C8B-B14F-4D97-AF65-F5344CB8AC3E}">
        <p14:creationId xmlns:p14="http://schemas.microsoft.com/office/powerpoint/2010/main" val="3537329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D4061-274C-0756-F47E-F6AA9B4D5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F3A37B-1051-4E1D-6A46-13BBEFEB7344}"/>
              </a:ext>
            </a:extLst>
          </p:cNvPr>
          <p:cNvSpPr txBox="1"/>
          <p:nvPr/>
        </p:nvSpPr>
        <p:spPr>
          <a:xfrm>
            <a:off x="742950" y="1276382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Hyperparameter Tuning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429E6F-41A6-D19B-2819-847230995D8A}"/>
              </a:ext>
            </a:extLst>
          </p:cNvPr>
          <p:cNvSpPr txBox="1"/>
          <p:nvPr/>
        </p:nvSpPr>
        <p:spPr>
          <a:xfrm>
            <a:off x="742950" y="1979551"/>
            <a:ext cx="6094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Why Hyperparameter Tuning?</a:t>
            </a:r>
          </a:p>
          <a:p>
            <a:pPr>
              <a:buNone/>
            </a:pPr>
            <a:endParaRPr lang="en-IN" b="1" dirty="0"/>
          </a:p>
          <a:p>
            <a:pPr algn="just">
              <a:buNone/>
            </a:pPr>
            <a:r>
              <a:rPr lang="en-IN" dirty="0"/>
              <a:t>The baseline </a:t>
            </a:r>
            <a:r>
              <a:rPr lang="en-IN" dirty="0" err="1"/>
              <a:t>CatBoost</a:t>
            </a:r>
            <a:r>
              <a:rPr lang="en-IN" dirty="0"/>
              <a:t> model provided strong performance, but tuning was performed to improve generalization and maximize validation AUC.</a:t>
            </a:r>
          </a:p>
          <a:p>
            <a:pPr algn="just"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Tuning Strategy</a:t>
            </a:r>
          </a:p>
          <a:p>
            <a:pPr>
              <a:buNone/>
            </a:pPr>
            <a:r>
              <a:rPr lang="en-IN" dirty="0"/>
              <a:t>✅ Randomized Search</a:t>
            </a:r>
          </a:p>
          <a:p>
            <a:pPr>
              <a:buNone/>
            </a:pPr>
            <a:r>
              <a:rPr lang="en-IN" dirty="0"/>
              <a:t>✅ Validation Set Evaluation</a:t>
            </a:r>
          </a:p>
          <a:p>
            <a:pPr>
              <a:buNone/>
            </a:pPr>
            <a:r>
              <a:rPr lang="en-IN" dirty="0"/>
              <a:t>✅ AUC as Primary Metric</a:t>
            </a:r>
          </a:p>
          <a:p>
            <a:pPr>
              <a:buNone/>
            </a:pPr>
            <a:r>
              <a:rPr lang="en-IN" dirty="0"/>
              <a:t>✅ F1-Score as Secondary Metric</a:t>
            </a:r>
          </a:p>
          <a:p>
            <a:pPr>
              <a:buNone/>
            </a:pPr>
            <a:r>
              <a:rPr lang="en-IN" dirty="0"/>
              <a:t>✅ Early Stopping Enabled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35E726-F417-A299-22F9-295E72CF7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949036"/>
              </p:ext>
            </p:extLst>
          </p:nvPr>
        </p:nvGraphicFramePr>
        <p:xfrm>
          <a:off x="7016496" y="2137928"/>
          <a:ext cx="4514850" cy="2926080"/>
        </p:xfrm>
        <a:graphic>
          <a:graphicData uri="http://schemas.openxmlformats.org/drawingml/2006/table">
            <a:tbl>
              <a:tblPr/>
              <a:tblGrid>
                <a:gridCol w="2257425">
                  <a:extLst>
                    <a:ext uri="{9D8B030D-6E8A-4147-A177-3AD203B41FA5}">
                      <a16:colId xmlns:a16="http://schemas.microsoft.com/office/drawing/2014/main" val="2035025366"/>
                    </a:ext>
                  </a:extLst>
                </a:gridCol>
                <a:gridCol w="2257425">
                  <a:extLst>
                    <a:ext uri="{9D8B030D-6E8A-4147-A177-3AD203B41FA5}">
                      <a16:colId xmlns:a16="http://schemas.microsoft.com/office/drawing/2014/main" val="2305404097"/>
                    </a:ext>
                  </a:extLst>
                </a:gridCol>
              </a:tblGrid>
              <a:tr h="3611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Final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543617"/>
                  </a:ext>
                </a:extLst>
              </a:tr>
              <a:tr h="36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576346"/>
                  </a:ext>
                </a:extLst>
              </a:tr>
              <a:tr h="36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607202"/>
                  </a:ext>
                </a:extLst>
              </a:tr>
              <a:tr h="36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107746"/>
                  </a:ext>
                </a:extLst>
              </a:tr>
              <a:tr h="36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l2_leaf_reg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180583"/>
                  </a:ext>
                </a:extLst>
              </a:tr>
              <a:tr h="36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bagging_temperature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302348"/>
                  </a:ext>
                </a:extLst>
              </a:tr>
              <a:tr h="36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random_strength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513"/>
                  </a:ext>
                </a:extLst>
              </a:tr>
              <a:tr h="36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one_hot_max_size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954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302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AD4C1-FE18-B02C-C5A9-AF2000CFF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18486-D446-70A4-45E6-C6530235C2A3}"/>
              </a:ext>
            </a:extLst>
          </p:cNvPr>
          <p:cNvSpPr txBox="1"/>
          <p:nvPr/>
        </p:nvSpPr>
        <p:spPr>
          <a:xfrm>
            <a:off x="1309878" y="1653278"/>
            <a:ext cx="70568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Model Performance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1AE44-88FD-2973-4380-34F2CED80D8E}"/>
              </a:ext>
            </a:extLst>
          </p:cNvPr>
          <p:cNvSpPr txBox="1"/>
          <p:nvPr/>
        </p:nvSpPr>
        <p:spPr>
          <a:xfrm>
            <a:off x="1309878" y="2393942"/>
            <a:ext cx="4103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Baseline vs Tuned Model Comparison 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3DFD91-673F-8BBF-0659-3FEA30C0F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498014"/>
              </p:ext>
            </p:extLst>
          </p:nvPr>
        </p:nvGraphicFramePr>
        <p:xfrm>
          <a:off x="1405128" y="3050988"/>
          <a:ext cx="4904232" cy="2194560"/>
        </p:xfrm>
        <a:graphic>
          <a:graphicData uri="http://schemas.openxmlformats.org/drawingml/2006/table">
            <a:tbl>
              <a:tblPr/>
              <a:tblGrid>
                <a:gridCol w="1634744">
                  <a:extLst>
                    <a:ext uri="{9D8B030D-6E8A-4147-A177-3AD203B41FA5}">
                      <a16:colId xmlns:a16="http://schemas.microsoft.com/office/drawing/2014/main" val="2888568341"/>
                    </a:ext>
                  </a:extLst>
                </a:gridCol>
                <a:gridCol w="1634744">
                  <a:extLst>
                    <a:ext uri="{9D8B030D-6E8A-4147-A177-3AD203B41FA5}">
                      <a16:colId xmlns:a16="http://schemas.microsoft.com/office/drawing/2014/main" val="1697950869"/>
                    </a:ext>
                  </a:extLst>
                </a:gridCol>
                <a:gridCol w="1634744">
                  <a:extLst>
                    <a:ext uri="{9D8B030D-6E8A-4147-A177-3AD203B41FA5}">
                      <a16:colId xmlns:a16="http://schemas.microsoft.com/office/drawing/2014/main" val="38612552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Tuned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763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87.51%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87.68%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183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77.98%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78.54%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032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67.09%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67.22%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11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72.13%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72.44%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114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ROC-AUC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93.28%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93.32%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1346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1FDABCE-8C38-3418-3FC6-3AA0BDC89592}"/>
              </a:ext>
            </a:extLst>
          </p:cNvPr>
          <p:cNvSpPr txBox="1"/>
          <p:nvPr/>
        </p:nvSpPr>
        <p:spPr>
          <a:xfrm>
            <a:off x="6654546" y="2393942"/>
            <a:ext cx="46207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Takeaways :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Tuning improved all evaluation metrics.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Best Validation AUC reached 0.9332.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Early stopping prevented overfitting.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Tuned model selected for final evaluation.</a:t>
            </a:r>
          </a:p>
        </p:txBody>
      </p:sp>
    </p:spTree>
    <p:extLst>
      <p:ext uri="{BB962C8B-B14F-4D97-AF65-F5344CB8AC3E}">
        <p14:creationId xmlns:p14="http://schemas.microsoft.com/office/powerpoint/2010/main" val="1724274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09D05-8B0B-1551-D7E7-56D0AD5B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97C4A6-B71A-C54E-94A3-4297ED9C857A}"/>
              </a:ext>
            </a:extLst>
          </p:cNvPr>
          <p:cNvSpPr txBox="1"/>
          <p:nvPr/>
        </p:nvSpPr>
        <p:spPr>
          <a:xfrm>
            <a:off x="1721358" y="1113782"/>
            <a:ext cx="9480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Threshold Optimization &amp; Final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FBF42-986A-BE50-9E5D-22C582F018F8}"/>
              </a:ext>
            </a:extLst>
          </p:cNvPr>
          <p:cNvSpPr txBox="1"/>
          <p:nvPr/>
        </p:nvSpPr>
        <p:spPr>
          <a:xfrm>
            <a:off x="1812798" y="1931384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Why Threshold Optimization?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default classification threshold of </a:t>
            </a:r>
            <a:r>
              <a:rPr lang="en-IN" b="1" dirty="0"/>
              <a:t>0.50</a:t>
            </a:r>
            <a:r>
              <a:rPr lang="en-IN" dirty="0"/>
              <a:t> does not always provide the best balance between Precision and Recall.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 improve classification performance, multiple thresholds were evaluated:</a:t>
            </a:r>
          </a:p>
          <a:p>
            <a:r>
              <a:rPr lang="en-IN" dirty="0"/>
              <a:t>	0.30 | 0.40 | 0.50 | 0.60 | 0.70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582DA-E8EF-6DCC-FA9D-E86E3B001BF0}"/>
              </a:ext>
            </a:extLst>
          </p:cNvPr>
          <p:cNvSpPr txBox="1"/>
          <p:nvPr/>
        </p:nvSpPr>
        <p:spPr>
          <a:xfrm>
            <a:off x="1812798" y="3712893"/>
            <a:ext cx="60944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Selected Threshold</a:t>
            </a:r>
          </a:p>
          <a:p>
            <a:pPr>
              <a:buNone/>
            </a:pPr>
            <a:r>
              <a:rPr lang="en-IN" b="1" dirty="0"/>
              <a:t>Final Threshold = 0.40</a:t>
            </a:r>
          </a:p>
          <a:p>
            <a:pPr>
              <a:buNone/>
            </a:pPr>
            <a:r>
              <a:rPr lang="en-IN" dirty="0"/>
              <a:t>Reasons:</a:t>
            </a:r>
          </a:p>
          <a:p>
            <a:pPr>
              <a:buNone/>
            </a:pPr>
            <a:r>
              <a:rPr lang="en-IN" dirty="0"/>
              <a:t>✅ Highest F1-Score (72.36%)</a:t>
            </a:r>
          </a:p>
          <a:p>
            <a:pPr>
              <a:buNone/>
            </a:pPr>
            <a:r>
              <a:rPr lang="en-IN" dirty="0"/>
              <a:t>✅ Better balance between Precision and Recall</a:t>
            </a:r>
          </a:p>
          <a:p>
            <a:pPr>
              <a:buNone/>
            </a:pPr>
            <a:r>
              <a:rPr lang="en-IN" dirty="0"/>
              <a:t>✅ Improved identification of high-income individuals</a:t>
            </a:r>
          </a:p>
          <a:p>
            <a:pPr>
              <a:buNone/>
            </a:pPr>
            <a:r>
              <a:rPr lang="en-IN" dirty="0"/>
              <a:t>✅ Reduced False Negatives compared to threshold 0.50</a:t>
            </a:r>
          </a:p>
        </p:txBody>
      </p:sp>
    </p:spTree>
    <p:extLst>
      <p:ext uri="{BB962C8B-B14F-4D97-AF65-F5344CB8AC3E}">
        <p14:creationId xmlns:p14="http://schemas.microsoft.com/office/powerpoint/2010/main" val="4123860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16725-8194-BE4C-0B6E-94904F99F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EACD63-6061-718C-5E45-4F692733D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463510"/>
              </p:ext>
            </p:extLst>
          </p:nvPr>
        </p:nvGraphicFramePr>
        <p:xfrm>
          <a:off x="1588008" y="1724438"/>
          <a:ext cx="2965704" cy="2317212"/>
        </p:xfrm>
        <a:graphic>
          <a:graphicData uri="http://schemas.openxmlformats.org/drawingml/2006/table">
            <a:tbl>
              <a:tblPr/>
              <a:tblGrid>
                <a:gridCol w="1482852">
                  <a:extLst>
                    <a:ext uri="{9D8B030D-6E8A-4147-A177-3AD203B41FA5}">
                      <a16:colId xmlns:a16="http://schemas.microsoft.com/office/drawing/2014/main" val="4276060757"/>
                    </a:ext>
                  </a:extLst>
                </a:gridCol>
                <a:gridCol w="1482852">
                  <a:extLst>
                    <a:ext uri="{9D8B030D-6E8A-4147-A177-3AD203B41FA5}">
                      <a16:colId xmlns:a16="http://schemas.microsoft.com/office/drawing/2014/main" val="572513162"/>
                    </a:ext>
                  </a:extLst>
                </a:gridCol>
              </a:tblGrid>
              <a:tr h="3862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162494"/>
                  </a:ext>
                </a:extLst>
              </a:tr>
              <a:tr h="386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86.66%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869055"/>
                  </a:ext>
                </a:extLst>
              </a:tr>
              <a:tr h="386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70.86%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706647"/>
                  </a:ext>
                </a:extLst>
              </a:tr>
              <a:tr h="386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73.92%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34766"/>
                  </a:ext>
                </a:extLst>
              </a:tr>
              <a:tr h="386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72.36%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936618"/>
                  </a:ext>
                </a:extLst>
              </a:tr>
              <a:tr h="386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ROC-AUC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92.75%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2018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400A4B2-0678-7601-490F-EE6940B1A4DB}"/>
              </a:ext>
            </a:extLst>
          </p:cNvPr>
          <p:cNvSpPr txBox="1"/>
          <p:nvPr/>
        </p:nvSpPr>
        <p:spPr>
          <a:xfrm>
            <a:off x="1236726" y="894326"/>
            <a:ext cx="4716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Final Test Performance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9F0717-C36F-D839-3E7C-D8EBACC3306B}"/>
              </a:ext>
            </a:extLst>
          </p:cNvPr>
          <p:cNvSpPr txBox="1"/>
          <p:nvPr/>
        </p:nvSpPr>
        <p:spPr>
          <a:xfrm>
            <a:off x="971722" y="4148481"/>
            <a:ext cx="4716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Threshold optimization improved Recall and F1-Score,resulting in a better balance between identifying high-income individuals and controlling false predictions.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257D92-E011-8E57-176A-C54D9065C19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96052" y="1444980"/>
            <a:ext cx="6087213" cy="414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79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BD9C4-9785-AAEF-AB0E-3D9534CD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E6C880-0168-3D04-32A4-2C5CE6072933}"/>
              </a:ext>
            </a:extLst>
          </p:cNvPr>
          <p:cNvSpPr txBox="1"/>
          <p:nvPr/>
        </p:nvSpPr>
        <p:spPr>
          <a:xfrm>
            <a:off x="1117854" y="674870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Error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C83581-5643-4F76-84F7-21EA25186AE7}"/>
              </a:ext>
            </a:extLst>
          </p:cNvPr>
          <p:cNvSpPr txBox="1"/>
          <p:nvPr/>
        </p:nvSpPr>
        <p:spPr>
          <a:xfrm>
            <a:off x="1117854" y="1259645"/>
            <a:ext cx="7760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 err="1"/>
              <a:t>Analyze</a:t>
            </a:r>
            <a:r>
              <a:rPr lang="en-IN" dirty="0"/>
              <a:t> model misclassifications to understand where prediction errors occur and identify opportunities for improvement.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2E7680-6C92-F4C0-347C-7989377C6EE2}"/>
              </a:ext>
            </a:extLst>
          </p:cNvPr>
          <p:cNvSpPr txBox="1"/>
          <p:nvPr/>
        </p:nvSpPr>
        <p:spPr>
          <a:xfrm>
            <a:off x="1117854" y="1986016"/>
            <a:ext cx="476173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False Positive Patterns</a:t>
            </a:r>
          </a:p>
          <a:p>
            <a:pPr>
              <a:buNone/>
            </a:pPr>
            <a:r>
              <a:rPr lang="en-IN" i="1" dirty="0"/>
              <a:t>(Predicted &gt;50K, Actual ≤50K)</a:t>
            </a:r>
            <a:endParaRPr lang="en-IN" dirty="0"/>
          </a:p>
          <a:p>
            <a:pPr>
              <a:buNone/>
            </a:pPr>
            <a:r>
              <a:rPr lang="en-IN" dirty="0"/>
              <a:t>Commonly observed among: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Professional-specialty occupations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Executive-managerial occupations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Sales-related occupations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Bachelor's degree holders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Married-civ-spouse individuals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Interpretation</a:t>
            </a:r>
          </a:p>
          <a:p>
            <a:pPr algn="just">
              <a:buNone/>
            </a:pPr>
            <a:r>
              <a:rPr lang="en-IN" dirty="0"/>
              <a:t>These groups exhibit characteristics typically associated with higher income, causing the model to occasionally overestimate income class.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85DAC9-3879-BFF7-4244-42427BF517F5}"/>
              </a:ext>
            </a:extLst>
          </p:cNvPr>
          <p:cNvSpPr txBox="1"/>
          <p:nvPr/>
        </p:nvSpPr>
        <p:spPr>
          <a:xfrm>
            <a:off x="6391656" y="1986016"/>
            <a:ext cx="515493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False Negative Patterns</a:t>
            </a:r>
          </a:p>
          <a:p>
            <a:pPr>
              <a:buNone/>
            </a:pPr>
            <a:r>
              <a:rPr lang="en-IN" i="1" dirty="0"/>
              <a:t>(Predicted ≤50K, Actual &gt;50K)</a:t>
            </a:r>
            <a:endParaRPr lang="en-IN" dirty="0"/>
          </a:p>
          <a:p>
            <a:pPr>
              <a:buNone/>
            </a:pPr>
            <a:r>
              <a:rPr lang="en-IN" dirty="0"/>
              <a:t>Commonly observed among: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Craft-repair occupations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Professional-specialty occupations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Sales occupations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High-income individuals with limited capital gain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Some Bachelor's and Master's degree holders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Interpretation</a:t>
            </a:r>
          </a:p>
          <a:p>
            <a:pPr>
              <a:buNone/>
            </a:pPr>
            <a:r>
              <a:rPr lang="en-IN" dirty="0"/>
              <a:t>Some high-income individuals do not follow the typical income patterns learned by the model.</a:t>
            </a:r>
          </a:p>
        </p:txBody>
      </p:sp>
    </p:spTree>
    <p:extLst>
      <p:ext uri="{BB962C8B-B14F-4D97-AF65-F5344CB8AC3E}">
        <p14:creationId xmlns:p14="http://schemas.microsoft.com/office/powerpoint/2010/main" val="3470893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D0F42-1C1F-07C1-AA65-D65C1811E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93CCB7-D79E-0C0F-33EA-774245E13A7D}"/>
              </a:ext>
            </a:extLst>
          </p:cNvPr>
          <p:cNvSpPr txBox="1"/>
          <p:nvPr/>
        </p:nvSpPr>
        <p:spPr>
          <a:xfrm>
            <a:off x="971550" y="766310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Responsible ML Checks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5BC94-3F0B-10A8-A193-24C14A2A31CD}"/>
              </a:ext>
            </a:extLst>
          </p:cNvPr>
          <p:cNvSpPr txBox="1"/>
          <p:nvPr/>
        </p:nvSpPr>
        <p:spPr>
          <a:xfrm>
            <a:off x="971550" y="1500336"/>
            <a:ext cx="57675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Evaluate model performance across sensitive demographic groups to identify potential performance differences and assess fairness considerations.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0E3E39-79F0-E4BF-BC9E-E482B10F8527}"/>
              </a:ext>
            </a:extLst>
          </p:cNvPr>
          <p:cNvSpPr txBox="1"/>
          <p:nvPr/>
        </p:nvSpPr>
        <p:spPr>
          <a:xfrm>
            <a:off x="971550" y="2555390"/>
            <a:ext cx="57675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Group-wise Evaluation by Sex</a:t>
            </a:r>
          </a:p>
          <a:p>
            <a:pPr>
              <a:buNone/>
            </a:pPr>
            <a:r>
              <a:rPr lang="en-IN" b="1" dirty="0"/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Male group achieved higher Recall (</a:t>
            </a:r>
            <a:r>
              <a:rPr lang="en-IN" b="1" dirty="0"/>
              <a:t>75.31%</a:t>
            </a:r>
            <a:r>
              <a:rPr lang="en-IN" dirty="0"/>
              <a:t>) than Female (</a:t>
            </a:r>
            <a:r>
              <a:rPr lang="en-IN" b="1" dirty="0"/>
              <a:t>66.27%</a:t>
            </a:r>
            <a:r>
              <a:rPr lang="en-IN" dirty="0"/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Female group achieved higher AUC (</a:t>
            </a:r>
            <a:r>
              <a:rPr lang="en-IN" b="1" dirty="0"/>
              <a:t>0.9460</a:t>
            </a:r>
            <a:r>
              <a:rPr lang="en-IN" dirty="0"/>
              <a:t>) than Male (</a:t>
            </a:r>
            <a:r>
              <a:rPr lang="en-IN" b="1" dirty="0"/>
              <a:t>0.9098</a:t>
            </a:r>
            <a:r>
              <a:rPr lang="en-IN" dirty="0"/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Female group showed lower False Positive Rate (</a:t>
            </a:r>
            <a:r>
              <a:rPr lang="en-IN" b="1" dirty="0"/>
              <a:t>3.15%</a:t>
            </a:r>
            <a:r>
              <a:rPr lang="en-IN" dirty="0"/>
              <a:t>) compared to Male (</a:t>
            </a:r>
            <a:r>
              <a:rPr lang="en-IN" b="1" dirty="0"/>
              <a:t>13.38%</a:t>
            </a:r>
            <a:r>
              <a:rPr lang="en-IN" dirty="0"/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Performance differences indicate that model </a:t>
            </a:r>
            <a:r>
              <a:rPr lang="en-IN" dirty="0" err="1"/>
              <a:t>behavior</a:t>
            </a:r>
            <a:r>
              <a:rPr lang="en-IN" dirty="0"/>
              <a:t> varies across demographic groups.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E23544-9217-6672-A525-082F2997D7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92824" y="1368612"/>
            <a:ext cx="5441598" cy="433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748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4ECB6-0736-AA25-BA16-8711CFE32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A68841-E9A1-02C4-38B8-4F181A068943}"/>
              </a:ext>
            </a:extLst>
          </p:cNvPr>
          <p:cNvSpPr txBox="1"/>
          <p:nvPr/>
        </p:nvSpPr>
        <p:spPr>
          <a:xfrm>
            <a:off x="953262" y="1380066"/>
            <a:ext cx="33668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Group-wise Evaluation by Race</a:t>
            </a:r>
          </a:p>
          <a:p>
            <a:pPr>
              <a:buNone/>
            </a:pPr>
            <a:r>
              <a:rPr lang="en-IN" b="1" dirty="0"/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AUC values remain above </a:t>
            </a:r>
            <a:r>
              <a:rPr lang="en-IN" b="1" dirty="0"/>
              <a:t>0.91</a:t>
            </a:r>
            <a:r>
              <a:rPr lang="en-IN" dirty="0"/>
              <a:t> across all race groups.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Recall varies between groups (</a:t>
            </a:r>
            <a:r>
              <a:rPr lang="en-IN" b="1" dirty="0"/>
              <a:t>60.00% – 75.19%</a:t>
            </a:r>
            <a:r>
              <a:rPr lang="en-IN" dirty="0"/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False Negative Rates differ across race categories.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Small subgroup sizes may contribute to metric variability.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6DFAD-9816-BDC2-A56D-B752B0981BA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28130" y="995691"/>
            <a:ext cx="7944998" cy="469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98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13234-20F7-98DD-6EA2-7FE263D4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30F238-61BE-EF41-6BAD-0D125958B78F}"/>
              </a:ext>
            </a:extLst>
          </p:cNvPr>
          <p:cNvSpPr txBox="1"/>
          <p:nvPr/>
        </p:nvSpPr>
        <p:spPr>
          <a:xfrm>
            <a:off x="669798" y="345686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Conclusion &amp; 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410C6E-D233-BAAE-2206-B99423E67A77}"/>
              </a:ext>
            </a:extLst>
          </p:cNvPr>
          <p:cNvSpPr txBox="1"/>
          <p:nvPr/>
        </p:nvSpPr>
        <p:spPr>
          <a:xfrm>
            <a:off x="752094" y="930461"/>
            <a:ext cx="1129969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Project Conclusion</a:t>
            </a:r>
          </a:p>
          <a:p>
            <a:pPr>
              <a:buNone/>
            </a:pPr>
            <a:r>
              <a:rPr lang="en-IN" dirty="0"/>
              <a:t>✅ Developed a complete income prediction pipeline using the UCI Adult Dataset.</a:t>
            </a:r>
          </a:p>
          <a:p>
            <a:pPr>
              <a:buNone/>
            </a:pPr>
            <a:r>
              <a:rPr lang="en-IN" dirty="0"/>
              <a:t>✅ Implemented data validation, preprocessing, feature analysis, model training, hyperparameter tuning, threshold optimization, and responsible ML evaluation.</a:t>
            </a:r>
          </a:p>
          <a:p>
            <a:pPr>
              <a:buNone/>
            </a:pPr>
            <a:r>
              <a:rPr lang="en-IN" dirty="0"/>
              <a:t>✅ </a:t>
            </a:r>
            <a:r>
              <a:rPr lang="en-IN" dirty="0" err="1"/>
              <a:t>CatBoost</a:t>
            </a:r>
            <a:r>
              <a:rPr lang="en-IN" dirty="0"/>
              <a:t> effectively handled categorical features without one-hot encoding.</a:t>
            </a:r>
          </a:p>
          <a:p>
            <a:pPr>
              <a:buNone/>
            </a:pPr>
            <a:r>
              <a:rPr lang="en-IN" dirty="0"/>
              <a:t>✅ Final model achieved strong predictive performance: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ROC-AUC: </a:t>
            </a:r>
            <a:r>
              <a:rPr lang="en-IN" b="1" dirty="0"/>
              <a:t>0.9275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Accuracy: </a:t>
            </a:r>
            <a:r>
              <a:rPr lang="en-IN" b="1" dirty="0"/>
              <a:t>86.66%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Precision: </a:t>
            </a:r>
            <a:r>
              <a:rPr lang="en-IN" b="1" dirty="0"/>
              <a:t>70.86%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Recall: </a:t>
            </a:r>
            <a:r>
              <a:rPr lang="en-IN" b="1" dirty="0"/>
              <a:t>73.92%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F1-Score: </a:t>
            </a:r>
            <a:r>
              <a:rPr lang="en-IN" b="1" dirty="0"/>
              <a:t>72.36%</a:t>
            </a:r>
            <a:r>
              <a:rPr lang="en-IN" dirty="0"/>
              <a:t> </a:t>
            </a:r>
          </a:p>
          <a:p>
            <a:pPr>
              <a:buNone/>
            </a:pPr>
            <a:r>
              <a:rPr lang="en-IN" dirty="0"/>
              <a:t>✅ Threshold optimization (0.40) improved the balance between Precision and Recall.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2B3AFC-8A7F-5883-2B01-6F283DA539C5}"/>
              </a:ext>
            </a:extLst>
          </p:cNvPr>
          <p:cNvSpPr txBox="1"/>
          <p:nvPr/>
        </p:nvSpPr>
        <p:spPr>
          <a:xfrm>
            <a:off x="752094" y="4417209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Future Improvements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Collect more recent and representative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Perform deeper fairness and bias auditing.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Investigate additional feature engineering opportunities.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Implement model monitoring and periodic retraining.</a:t>
            </a:r>
          </a:p>
        </p:txBody>
      </p:sp>
    </p:spTree>
    <p:extLst>
      <p:ext uri="{BB962C8B-B14F-4D97-AF65-F5344CB8AC3E}">
        <p14:creationId xmlns:p14="http://schemas.microsoft.com/office/powerpoint/2010/main" val="3669294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989</Words>
  <Application>Microsoft Office PowerPoint</Application>
  <PresentationFormat>Widescreen</PresentationFormat>
  <Paragraphs>219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ADLaM Display</vt:lpstr>
      <vt:lpstr>Arial</vt:lpstr>
      <vt:lpstr>Calibri</vt:lpstr>
      <vt:lpstr>Calibri Light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 ram Nadella</dc:creator>
  <cp:lastModifiedBy>Jai ram Nadella</cp:lastModifiedBy>
  <cp:revision>5</cp:revision>
  <dcterms:created xsi:type="dcterms:W3CDTF">2026-06-26T04:25:19Z</dcterms:created>
  <dcterms:modified xsi:type="dcterms:W3CDTF">2026-06-26T05:04:45Z</dcterms:modified>
</cp:coreProperties>
</file>